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</p:sldIdLst>
  <p:sldSz cx="18288000" cy="10287000"/>
  <p:notesSz cx="6858000" cy="9144000"/>
  <p:embeddedFontLst>
    <p:embeddedFont>
      <p:font typeface="Roboto Bold" charset="1" panose="02000000000000000000"/>
      <p:regular r:id="rId12"/>
    </p:embeddedFont>
    <p:embeddedFont>
      <p:font typeface="PT Serif" charset="1" panose="020A0603040505020204"/>
      <p:regular r:id="rId13"/>
    </p:embeddedFont>
    <p:embeddedFont>
      <p:font typeface="PT Serif Bold" charset="1" panose="020A0703040505020204"/>
      <p:regular r:id="rId14"/>
    </p:embeddedFont>
    <p:embeddedFont>
      <p:font typeface="Roboto Bold Italics" charset="1" panose="02000000000000000000"/>
      <p:regular r:id="rId15"/>
    </p:embeddedFont>
    <p:embeddedFont>
      <p:font typeface="Roboto Italics" charset="1" panose="02000000000000000000"/>
      <p:regular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fonts/font12.fntdata" Type="http://schemas.openxmlformats.org/officeDocument/2006/relationships/font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png" Type="http://schemas.openxmlformats.org/officeDocument/2006/relationships/image"/><Relationship Id="rId4" Target="../media/image1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1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1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1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1280175">
            <a:off x="298457" y="-3290818"/>
            <a:ext cx="16418167" cy="15350986"/>
          </a:xfrm>
          <a:custGeom>
            <a:avLst/>
            <a:gdLst/>
            <a:ahLst/>
            <a:cxnLst/>
            <a:rect r="r" b="b" t="t" l="l"/>
            <a:pathLst>
              <a:path h="15350986" w="16418167">
                <a:moveTo>
                  <a:pt x="0" y="0"/>
                </a:moveTo>
                <a:lnTo>
                  <a:pt x="16418167" y="0"/>
                </a:lnTo>
                <a:lnTo>
                  <a:pt x="16418167" y="15350986"/>
                </a:lnTo>
                <a:lnTo>
                  <a:pt x="0" y="1535098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1600200" y="5765075"/>
            <a:ext cx="3039768" cy="0"/>
          </a:xfrm>
          <a:prstGeom prst="line">
            <a:avLst/>
          </a:prstGeom>
          <a:ln cap="flat" w="95250">
            <a:solidFill>
              <a:srgbClr val="FF3131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" id="4"/>
          <p:cNvSpPr txBox="true"/>
          <p:nvPr/>
        </p:nvSpPr>
        <p:spPr>
          <a:xfrm rot="0">
            <a:off x="1373834" y="3425824"/>
            <a:ext cx="7543800" cy="17176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999"/>
              </a:lnSpc>
            </a:pPr>
            <a:r>
              <a:rPr lang="en-US" sz="9999" spc="199" b="true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Split</a:t>
            </a:r>
            <a:r>
              <a:rPr lang="en-US" b="true" sz="9999" spc="199">
                <a:gradFill>
                  <a:gsLst>
                    <a:gs pos="0">
                      <a:srgbClr val="FF5757">
                        <a:alpha val="100000"/>
                      </a:srgbClr>
                    </a:gs>
                    <a:gs pos="100000">
                      <a:srgbClr val="8C52FF">
                        <a:alpha val="100000"/>
                      </a:srgbClr>
                    </a:gs>
                  </a:gsLst>
                  <a:lin ang="0"/>
                </a:gradFill>
                <a:latin typeface="Roboto Bold"/>
                <a:ea typeface="Roboto Bold"/>
                <a:cs typeface="Roboto Bold"/>
                <a:sym typeface="Roboto Bold"/>
              </a:rPr>
              <a:t>Flow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600200" y="6107806"/>
            <a:ext cx="4337222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spc="-120">
                <a:solidFill>
                  <a:srgbClr val="000000">
                    <a:alpha val="69804"/>
                  </a:srgbClr>
                </a:solidFill>
                <a:latin typeface="PT Serif"/>
                <a:ea typeface="PT Serif"/>
                <a:cs typeface="PT Serif"/>
                <a:sym typeface="PT Serif"/>
              </a:rPr>
              <a:t>A </a:t>
            </a:r>
            <a:r>
              <a:rPr lang="en-US" sz="3000" spc="-120" b="true">
                <a:solidFill>
                  <a:srgbClr val="000000">
                    <a:alpha val="69804"/>
                  </a:srgbClr>
                </a:solidFill>
                <a:latin typeface="PT Serif Bold"/>
                <a:ea typeface="PT Serif Bold"/>
                <a:cs typeface="PT Serif Bold"/>
                <a:sym typeface="PT Serif Bold"/>
              </a:rPr>
              <a:t>Bit-</a:t>
            </a:r>
            <a:r>
              <a:rPr lang="en-US" b="true" sz="3000" spc="-120">
                <a:gradFill>
                  <a:gsLst>
                    <a:gs pos="0">
                      <a:srgbClr val="FF5757">
                        <a:alpha val="70000"/>
                      </a:srgbClr>
                    </a:gs>
                    <a:gs pos="100000">
                      <a:srgbClr val="8C52FF">
                        <a:alpha val="70000"/>
                      </a:srgbClr>
                    </a:gs>
                  </a:gsLst>
                  <a:lin ang="0"/>
                </a:gradFill>
                <a:latin typeface="PT Serif Bold"/>
                <a:ea typeface="PT Serif Bold"/>
                <a:cs typeface="PT Serif Bold"/>
                <a:sym typeface="PT Serif Bold"/>
              </a:rPr>
              <a:t>Shift</a:t>
            </a:r>
            <a:r>
              <a:rPr lang="en-US" sz="3000" spc="-120">
                <a:solidFill>
                  <a:srgbClr val="000000">
                    <a:alpha val="69804"/>
                  </a:srgbClr>
                </a:solidFill>
                <a:latin typeface="PT Serif"/>
                <a:ea typeface="PT Serif"/>
                <a:cs typeface="PT Serif"/>
                <a:sym typeface="PT Serif"/>
              </a:rPr>
              <a:t> product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838988" y="381179"/>
            <a:ext cx="6177448" cy="9524642"/>
          </a:xfrm>
          <a:custGeom>
            <a:avLst/>
            <a:gdLst/>
            <a:ahLst/>
            <a:cxnLst/>
            <a:rect r="r" b="b" t="t" l="l"/>
            <a:pathLst>
              <a:path h="9524642" w="6177448">
                <a:moveTo>
                  <a:pt x="0" y="0"/>
                </a:moveTo>
                <a:lnTo>
                  <a:pt x="6177448" y="0"/>
                </a:lnTo>
                <a:lnTo>
                  <a:pt x="6177448" y="9524642"/>
                </a:lnTo>
                <a:lnTo>
                  <a:pt x="0" y="952464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58139" y="524054"/>
            <a:ext cx="8485981" cy="20796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000"/>
              </a:lnSpc>
              <a:spcBef>
                <a:spcPct val="0"/>
              </a:spcBef>
            </a:pPr>
            <a:r>
              <a:rPr lang="en-US" b="true" sz="8000" i="true" spc="240">
                <a:solidFill>
                  <a:srgbClr val="000000"/>
                </a:solidFill>
                <a:latin typeface="Roboto Bold Italics"/>
                <a:ea typeface="Roboto Bold Italics"/>
                <a:cs typeface="Roboto Bold Italics"/>
                <a:sym typeface="Roboto Bold Italics"/>
              </a:rPr>
              <a:t>S</a:t>
            </a:r>
            <a:r>
              <a:rPr lang="en-US" b="true" sz="8000" i="true" spc="240">
                <a:solidFill>
                  <a:srgbClr val="000000"/>
                </a:solidFill>
                <a:latin typeface="Roboto Bold Italics"/>
                <a:ea typeface="Roboto Bold Italics"/>
                <a:cs typeface="Roboto Bold Italics"/>
                <a:sym typeface="Roboto Bold Italics"/>
              </a:rPr>
              <a:t>olving the </a:t>
            </a:r>
            <a:r>
              <a:rPr lang="en-US" b="true" sz="8000" i="true" spc="240">
                <a:gradFill>
                  <a:gsLst>
                    <a:gs pos="0">
                      <a:srgbClr val="FF5757">
                        <a:alpha val="100000"/>
                      </a:srgbClr>
                    </a:gs>
                    <a:gs pos="100000">
                      <a:srgbClr val="8C52FF">
                        <a:alpha val="100000"/>
                      </a:srgbClr>
                    </a:gs>
                  </a:gsLst>
                  <a:lin ang="0"/>
                </a:gradFill>
                <a:latin typeface="Roboto Bold Italics"/>
                <a:ea typeface="Roboto Bold Italics"/>
                <a:cs typeface="Roboto Bold Italics"/>
                <a:sym typeface="Roboto Bold Italics"/>
              </a:rPr>
              <a:t>Group</a:t>
            </a:r>
          </a:p>
          <a:p>
            <a:pPr algn="l">
              <a:lnSpc>
                <a:spcPts val="8000"/>
              </a:lnSpc>
              <a:spcBef>
                <a:spcPct val="0"/>
              </a:spcBef>
            </a:pPr>
            <a:r>
              <a:rPr lang="en-US" b="true" sz="8000" i="true" spc="240">
                <a:gradFill>
                  <a:gsLst>
                    <a:gs pos="0">
                      <a:srgbClr val="FF5757">
                        <a:alpha val="100000"/>
                      </a:srgbClr>
                    </a:gs>
                    <a:gs pos="100000">
                      <a:srgbClr val="8C52FF">
                        <a:alpha val="100000"/>
                      </a:srgbClr>
                    </a:gs>
                  </a:gsLst>
                  <a:lin ang="0"/>
                </a:gradFill>
                <a:latin typeface="Roboto Bold Italics"/>
                <a:ea typeface="Roboto Bold Italics"/>
                <a:cs typeface="Roboto Bold Italics"/>
                <a:sym typeface="Roboto Bold Italics"/>
              </a:rPr>
              <a:t>Expense</a:t>
            </a:r>
            <a:r>
              <a:rPr lang="en-US" b="true" sz="8000" i="true" spc="240">
                <a:solidFill>
                  <a:srgbClr val="000000"/>
                </a:solidFill>
                <a:latin typeface="Roboto Bold Italics"/>
                <a:ea typeface="Roboto Bold Italics"/>
                <a:cs typeface="Roboto Bold Italics"/>
                <a:sym typeface="Roboto Bold Italics"/>
              </a:rPr>
              <a:t> Chaos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358139" y="2772956"/>
            <a:ext cx="7185695" cy="1066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 i="true" spc="89">
                <a:solidFill>
                  <a:srgbClr val="000000"/>
                </a:solidFill>
                <a:latin typeface="Roboto Italics"/>
                <a:ea typeface="Roboto Italics"/>
                <a:cs typeface="Roboto Italics"/>
                <a:sym typeface="Roboto Italics"/>
              </a:rPr>
              <a:t>Simplifying how friends, roommates, and travel groups manage shared costs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0" y="4297666"/>
            <a:ext cx="7543834" cy="4355354"/>
          </a:xfrm>
          <a:custGeom>
            <a:avLst/>
            <a:gdLst/>
            <a:ahLst/>
            <a:cxnLst/>
            <a:rect r="r" b="b" t="t" l="l"/>
            <a:pathLst>
              <a:path h="4355354" w="7543834">
                <a:moveTo>
                  <a:pt x="0" y="0"/>
                </a:moveTo>
                <a:lnTo>
                  <a:pt x="7543834" y="0"/>
                </a:lnTo>
                <a:lnTo>
                  <a:pt x="7543834" y="4355355"/>
                </a:lnTo>
                <a:lnTo>
                  <a:pt x="0" y="43553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2307" t="-68429" r="-143576" b="-73079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1872153">
            <a:off x="635037" y="-3835737"/>
            <a:ext cx="16418167" cy="15350986"/>
          </a:xfrm>
          <a:custGeom>
            <a:avLst/>
            <a:gdLst/>
            <a:ahLst/>
            <a:cxnLst/>
            <a:rect r="r" b="b" t="t" l="l"/>
            <a:pathLst>
              <a:path h="15350986" w="16418167">
                <a:moveTo>
                  <a:pt x="0" y="0"/>
                </a:moveTo>
                <a:lnTo>
                  <a:pt x="16418167" y="0"/>
                </a:lnTo>
                <a:lnTo>
                  <a:pt x="16418167" y="15350986"/>
                </a:lnTo>
                <a:lnTo>
                  <a:pt x="0" y="1535098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19999"/>
            </a:blip>
            <a:stretch>
              <a:fillRect l="0" t="0" r="0" b="0"/>
            </a:stretch>
          </a:blipFill>
        </p:spPr>
      </p:sp>
    </p:spTree>
  </p:cSld>
  <p:clrMapOvr>
    <a:masterClrMapping/>
  </p:clrMapOvr>
  <p:transition spd="slow">
    <p:push dir="l"/>
  </p:transition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9258300"/>
          </a:xfrm>
          <a:custGeom>
            <a:avLst/>
            <a:gdLst/>
            <a:ahLst/>
            <a:cxnLst/>
            <a:rect r="r" b="b" t="t" l="l"/>
            <a:pathLst>
              <a:path h="9258300" w="18288000">
                <a:moveTo>
                  <a:pt x="0" y="0"/>
                </a:moveTo>
                <a:lnTo>
                  <a:pt x="18288000" y="0"/>
                </a:lnTo>
                <a:lnTo>
                  <a:pt x="18288000" y="9258300"/>
                </a:lnTo>
                <a:lnTo>
                  <a:pt x="0" y="92583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263" t="-2912" r="-1474" b="-10766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9265872">
            <a:off x="-2973910" y="-4340367"/>
            <a:ext cx="19265823" cy="18013545"/>
          </a:xfrm>
          <a:custGeom>
            <a:avLst/>
            <a:gdLst/>
            <a:ahLst/>
            <a:cxnLst/>
            <a:rect r="r" b="b" t="t" l="l"/>
            <a:pathLst>
              <a:path h="18013545" w="19265823">
                <a:moveTo>
                  <a:pt x="0" y="0"/>
                </a:moveTo>
                <a:lnTo>
                  <a:pt x="19265823" y="0"/>
                </a:lnTo>
                <a:lnTo>
                  <a:pt x="19265823" y="18013545"/>
                </a:lnTo>
                <a:lnTo>
                  <a:pt x="0" y="1801354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9999"/>
            </a:blip>
            <a:stretch>
              <a:fillRect l="0" t="0" r="0" b="0"/>
            </a:stretch>
          </a:blipFill>
        </p:spPr>
      </p:sp>
    </p:spTree>
  </p:cSld>
  <p:clrMapOvr>
    <a:masterClrMapping/>
  </p:clrMapOvr>
  <p:transition spd="slow">
    <p:cover dir="ld"/>
  </p:transition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1872153">
            <a:off x="1016529" y="-2704094"/>
            <a:ext cx="16418167" cy="15350986"/>
          </a:xfrm>
          <a:custGeom>
            <a:avLst/>
            <a:gdLst/>
            <a:ahLst/>
            <a:cxnLst/>
            <a:rect r="r" b="b" t="t" l="l"/>
            <a:pathLst>
              <a:path h="15350986" w="16418167">
                <a:moveTo>
                  <a:pt x="0" y="0"/>
                </a:moveTo>
                <a:lnTo>
                  <a:pt x="16418167" y="0"/>
                </a:lnTo>
                <a:lnTo>
                  <a:pt x="16418167" y="15350986"/>
                </a:lnTo>
                <a:lnTo>
                  <a:pt x="0" y="1535098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9999"/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802977" y="258763"/>
            <a:ext cx="13838437" cy="13779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200"/>
              </a:lnSpc>
              <a:spcBef>
                <a:spcPct val="0"/>
              </a:spcBef>
            </a:pPr>
            <a:r>
              <a:rPr lang="en-US" b="true" sz="8000" spc="-320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Full-Stack </a:t>
            </a:r>
            <a:r>
              <a:rPr lang="en-US" b="true" sz="8000" spc="-320">
                <a:gradFill>
                  <a:gsLst>
                    <a:gs pos="0">
                      <a:srgbClr val="FF5757">
                        <a:alpha val="100000"/>
                      </a:srgbClr>
                    </a:gs>
                    <a:gs pos="100000">
                      <a:srgbClr val="8C52FF">
                        <a:alpha val="100000"/>
                      </a:srgbClr>
                    </a:gs>
                  </a:gsLst>
                  <a:lin ang="0"/>
                </a:gradFill>
                <a:latin typeface="Roboto Bold"/>
                <a:ea typeface="Roboto Bold"/>
                <a:cs typeface="Roboto Bold"/>
                <a:sym typeface="Roboto Bold"/>
              </a:rPr>
              <a:t>Technical Architecture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906165" y="1560512"/>
            <a:ext cx="9939635" cy="533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 i="true" spc="-120">
                <a:solidFill>
                  <a:srgbClr val="000000"/>
                </a:solidFill>
                <a:latin typeface="Roboto Italics"/>
                <a:ea typeface="Roboto Italics"/>
                <a:cs typeface="Roboto Italics"/>
                <a:sym typeface="Roboto Italics"/>
              </a:rPr>
              <a:t>A modular 3-layer system built for reliability and financial precision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215424" y="5324475"/>
            <a:ext cx="2126853" cy="1730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600"/>
              </a:lnSpc>
              <a:spcBef>
                <a:spcPct val="0"/>
              </a:spcBef>
            </a:pPr>
            <a:r>
              <a:rPr lang="en-US" b="true" sz="4000" i="true" spc="120" strike="noStrike" u="none">
                <a:solidFill>
                  <a:srgbClr val="000000"/>
                </a:solidFill>
                <a:latin typeface="Roboto Bold Italics"/>
                <a:ea typeface="Roboto Bold Italics"/>
                <a:cs typeface="Roboto Bold Italics"/>
                <a:sym typeface="Roboto Bold Italics"/>
              </a:rPr>
              <a:t>Frontend</a:t>
            </a:r>
          </a:p>
          <a:p>
            <a:pPr algn="ctr" marL="0" indent="0" lvl="0">
              <a:lnSpc>
                <a:spcPts val="8400"/>
              </a:lnSpc>
              <a:spcBef>
                <a:spcPct val="0"/>
              </a:spcBef>
            </a:pPr>
            <a:r>
              <a:rPr lang="en-US" b="true" sz="6000" i="true" spc="179" strike="noStrike" u="none">
                <a:gradFill>
                  <a:gsLst>
                    <a:gs pos="0">
                      <a:srgbClr val="FF5757">
                        <a:alpha val="100000"/>
                      </a:srgbClr>
                    </a:gs>
                    <a:gs pos="100000">
                      <a:srgbClr val="8C52FF">
                        <a:alpha val="100000"/>
                      </a:srgbClr>
                    </a:gs>
                  </a:gsLst>
                  <a:lin ang="0"/>
                </a:gradFill>
                <a:latin typeface="Roboto Bold Italics"/>
                <a:ea typeface="Roboto Bold Italics"/>
                <a:cs typeface="Roboto Bold Italics"/>
                <a:sym typeface="Roboto Bold Italics"/>
              </a:rPr>
              <a:t>VUE 3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711594" y="2526352"/>
            <a:ext cx="1134512" cy="28838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429"/>
              </a:lnSpc>
              <a:spcBef>
                <a:spcPct val="0"/>
              </a:spcBef>
            </a:pPr>
            <a:r>
              <a:rPr lang="en-US" b="true" sz="16735" spc="-669">
                <a:gradFill>
                  <a:gsLst>
                    <a:gs pos="0">
                      <a:srgbClr val="FF5757">
                        <a:alpha val="100000"/>
                      </a:srgbClr>
                    </a:gs>
                    <a:gs pos="100000">
                      <a:srgbClr val="8C52FF">
                        <a:alpha val="100000"/>
                      </a:srgbClr>
                    </a:gs>
                  </a:gsLst>
                  <a:lin ang="0"/>
                </a:gradFill>
                <a:latin typeface="Roboto Bold"/>
                <a:ea typeface="Roboto Bold"/>
                <a:cs typeface="Roboto Bold"/>
                <a:sym typeface="Roboto Bold"/>
              </a:rPr>
              <a:t>1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576744" y="5229225"/>
            <a:ext cx="1134512" cy="28838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429"/>
              </a:lnSpc>
              <a:spcBef>
                <a:spcPct val="0"/>
              </a:spcBef>
            </a:pPr>
            <a:r>
              <a:rPr lang="en-US" b="true" sz="16735" spc="-669">
                <a:gradFill>
                  <a:gsLst>
                    <a:gs pos="0">
                      <a:srgbClr val="FF5757">
                        <a:alpha val="100000"/>
                      </a:srgbClr>
                    </a:gs>
                    <a:gs pos="100000">
                      <a:srgbClr val="8C52FF">
                        <a:alpha val="100000"/>
                      </a:srgbClr>
                    </a:gs>
                  </a:gsLst>
                  <a:lin ang="0"/>
                </a:gradFill>
                <a:latin typeface="Roboto Bold"/>
                <a:ea typeface="Roboto Bold"/>
                <a:cs typeface="Roboto Bold"/>
                <a:sym typeface="Roboto Bold"/>
              </a:rPr>
              <a:t>2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4323350" y="2678752"/>
            <a:ext cx="1134512" cy="28838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429"/>
              </a:lnSpc>
              <a:spcBef>
                <a:spcPct val="0"/>
              </a:spcBef>
            </a:pPr>
            <a:r>
              <a:rPr lang="en-US" b="true" sz="16735" spc="-669">
                <a:gradFill>
                  <a:gsLst>
                    <a:gs pos="0">
                      <a:srgbClr val="FF5757">
                        <a:alpha val="100000"/>
                      </a:srgbClr>
                    </a:gs>
                    <a:gs pos="100000">
                      <a:srgbClr val="8C52FF">
                        <a:alpha val="100000"/>
                      </a:srgbClr>
                    </a:gs>
                  </a:gsLst>
                  <a:lin ang="0"/>
                </a:gradFill>
                <a:latin typeface="Roboto Bold"/>
                <a:ea typeface="Roboto Bold"/>
                <a:cs typeface="Roboto Bold"/>
                <a:sym typeface="Roboto Bold"/>
              </a:rPr>
              <a:t>3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722196" y="3395189"/>
            <a:ext cx="3123605" cy="1720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600"/>
              </a:lnSpc>
              <a:spcBef>
                <a:spcPct val="0"/>
              </a:spcBef>
            </a:pPr>
            <a:r>
              <a:rPr lang="en-US" b="true" sz="4000" i="true" spc="120" strike="noStrike" u="none">
                <a:solidFill>
                  <a:srgbClr val="000000"/>
                </a:solidFill>
                <a:latin typeface="Roboto Bold Italics"/>
                <a:ea typeface="Roboto Bold Italics"/>
                <a:cs typeface="Roboto Bold Italics"/>
                <a:sym typeface="Roboto Bold Italics"/>
              </a:rPr>
              <a:t>Backend</a:t>
            </a:r>
          </a:p>
          <a:p>
            <a:pPr algn="ctr" marL="0" indent="0" lvl="0">
              <a:lnSpc>
                <a:spcPts val="8399"/>
              </a:lnSpc>
              <a:spcBef>
                <a:spcPct val="0"/>
              </a:spcBef>
            </a:pPr>
            <a:r>
              <a:rPr lang="en-US" b="true" sz="5999" i="true" spc="179" strike="noStrike" u="none">
                <a:gradFill>
                  <a:gsLst>
                    <a:gs pos="0">
                      <a:srgbClr val="FF5757">
                        <a:alpha val="100000"/>
                      </a:srgbClr>
                    </a:gs>
                    <a:gs pos="100000">
                      <a:srgbClr val="8C52FF">
                        <a:alpha val="100000"/>
                      </a:srgbClr>
                    </a:gs>
                  </a:gsLst>
                  <a:lin ang="0"/>
                </a:gradFill>
                <a:latin typeface="Roboto Bold Italics"/>
                <a:ea typeface="Roboto Bold Italics"/>
                <a:cs typeface="Roboto Bold Italics"/>
                <a:sym typeface="Roboto Bold Italics"/>
              </a:rPr>
              <a:t> FastAPI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3600167" y="5929787"/>
            <a:ext cx="2580878" cy="1730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600"/>
              </a:lnSpc>
              <a:spcBef>
                <a:spcPct val="0"/>
              </a:spcBef>
            </a:pPr>
            <a:r>
              <a:rPr lang="en-US" b="true" sz="4000" i="true" spc="120" strike="noStrike" u="none">
                <a:solidFill>
                  <a:srgbClr val="000000"/>
                </a:solidFill>
                <a:latin typeface="Roboto Bold Italics"/>
                <a:ea typeface="Roboto Bold Italics"/>
                <a:cs typeface="Roboto Bold Italics"/>
                <a:sym typeface="Roboto Bold Italics"/>
              </a:rPr>
              <a:t>Database</a:t>
            </a:r>
          </a:p>
          <a:p>
            <a:pPr algn="ctr" marL="0" indent="0" lvl="0">
              <a:lnSpc>
                <a:spcPts val="8400"/>
              </a:lnSpc>
              <a:spcBef>
                <a:spcPct val="0"/>
              </a:spcBef>
            </a:pPr>
            <a:r>
              <a:rPr lang="en-US" b="true" sz="6000" i="true" spc="179" strike="noStrike" u="none">
                <a:solidFill>
                  <a:srgbClr val="000000"/>
                </a:solidFill>
                <a:latin typeface="Roboto Bold Italics"/>
                <a:ea typeface="Roboto Bold Italics"/>
                <a:cs typeface="Roboto Bold Italics"/>
                <a:sym typeface="Roboto Bold Italics"/>
              </a:rPr>
              <a:t> </a:t>
            </a:r>
            <a:r>
              <a:rPr lang="en-US" b="true" sz="6000" i="true" spc="179" strike="noStrike" u="none">
                <a:gradFill>
                  <a:gsLst>
                    <a:gs pos="0">
                      <a:srgbClr val="FF5757">
                        <a:alpha val="100000"/>
                      </a:srgbClr>
                    </a:gs>
                    <a:gs pos="100000">
                      <a:srgbClr val="8C52FF">
                        <a:alpha val="100000"/>
                      </a:srgbClr>
                    </a:gs>
                  </a:gsLst>
                  <a:lin ang="0"/>
                </a:gradFill>
                <a:latin typeface="Roboto Bold Italics"/>
                <a:ea typeface="Roboto Bold Italics"/>
                <a:cs typeface="Roboto Bold Italics"/>
                <a:sym typeface="Roboto Bold Italics"/>
              </a:rPr>
              <a:t>SQLite</a:t>
            </a:r>
          </a:p>
        </p:txBody>
      </p:sp>
      <p:sp>
        <p:nvSpPr>
          <p:cNvPr name="AutoShape 11" id="11"/>
          <p:cNvSpPr/>
          <p:nvPr/>
        </p:nvSpPr>
        <p:spPr>
          <a:xfrm flipV="true">
            <a:off x="5875983" y="2859727"/>
            <a:ext cx="0" cy="5748190"/>
          </a:xfrm>
          <a:prstGeom prst="line">
            <a:avLst/>
          </a:prstGeom>
          <a:ln cap="flat" w="95250">
            <a:gradFill>
              <a:gsLst>
                <a:gs pos="0">
                  <a:srgbClr val="FF5757">
                    <a:alpha val="100000"/>
                  </a:srgbClr>
                </a:gs>
                <a:gs pos="100000">
                  <a:srgbClr val="8C52FF">
                    <a:alpha val="100000"/>
                  </a:srgbClr>
                </a:gs>
              </a:gsLst>
              <a:lin ang="0"/>
            </a:gradFill>
            <a:prstDash val="solid"/>
            <a:headEnd type="none" len="sm" w="sm"/>
            <a:tailEnd type="none" len="sm" w="sm"/>
          </a:ln>
        </p:spPr>
      </p:sp>
      <p:sp>
        <p:nvSpPr>
          <p:cNvPr name="AutoShape 12" id="12"/>
          <p:cNvSpPr/>
          <p:nvPr/>
        </p:nvSpPr>
        <p:spPr>
          <a:xfrm flipV="true">
            <a:off x="12388850" y="2859727"/>
            <a:ext cx="0" cy="5748190"/>
          </a:xfrm>
          <a:prstGeom prst="line">
            <a:avLst/>
          </a:prstGeom>
          <a:ln cap="flat" w="95250">
            <a:gradFill>
              <a:gsLst>
                <a:gs pos="0">
                  <a:srgbClr val="FF5757">
                    <a:alpha val="100000"/>
                  </a:srgbClr>
                </a:gs>
                <a:gs pos="100000">
                  <a:srgbClr val="8C52FF">
                    <a:alpha val="100000"/>
                  </a:srgbClr>
                </a:gs>
              </a:gsLst>
              <a:lin ang="0"/>
            </a:gra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  <p:transition spd="slow">
    <p:push dir="d"/>
  </p:transition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33739" y="0"/>
            <a:ext cx="18521739" cy="8596208"/>
          </a:xfrm>
          <a:custGeom>
            <a:avLst/>
            <a:gdLst/>
            <a:ahLst/>
            <a:cxnLst/>
            <a:rect r="r" b="b" t="t" l="l"/>
            <a:pathLst>
              <a:path h="8596208" w="18521739">
                <a:moveTo>
                  <a:pt x="0" y="0"/>
                </a:moveTo>
                <a:lnTo>
                  <a:pt x="18521739" y="0"/>
                </a:lnTo>
                <a:lnTo>
                  <a:pt x="18521739" y="8596208"/>
                </a:lnTo>
                <a:lnTo>
                  <a:pt x="0" y="859620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440" t="-4139" r="-846" b="-21247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185014" y="9201150"/>
            <a:ext cx="7447359" cy="358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 i="true" spc="60">
                <a:solidFill>
                  <a:srgbClr val="000000"/>
                </a:solidFill>
                <a:latin typeface="Roboto Italics"/>
                <a:ea typeface="Roboto Italics"/>
                <a:cs typeface="Roboto Italics"/>
                <a:sym typeface="Roboto Italics"/>
              </a:rPr>
              <a:t>Values like ₹125.50 stored as 12550 paise to prevent math drift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684099" y="9201150"/>
            <a:ext cx="6794203" cy="358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 i="true" spc="60">
                <a:solidFill>
                  <a:srgbClr val="000000"/>
                </a:solidFill>
                <a:latin typeface="Roboto Italics"/>
                <a:ea typeface="Roboto Italics"/>
                <a:cs typeface="Roboto Italics"/>
                <a:sym typeface="Roboto Italics"/>
              </a:rPr>
              <a:t>Configured to allow local development origins (port 5173)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185014" y="8520008"/>
            <a:ext cx="2829719" cy="533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b="true" sz="3000" spc="89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Paise Precision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684099" y="8574089"/>
            <a:ext cx="2645271" cy="533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200"/>
              </a:lnSpc>
              <a:spcBef>
                <a:spcPct val="0"/>
              </a:spcBef>
            </a:pPr>
            <a:r>
              <a:rPr lang="en-US" b="true" sz="3000" spc="89" strike="noStrike" u="none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CORS Security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459085" y="8347075"/>
            <a:ext cx="613370" cy="13684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199"/>
              </a:lnSpc>
              <a:spcBef>
                <a:spcPct val="0"/>
              </a:spcBef>
            </a:pPr>
            <a:r>
              <a:rPr lang="en-US" b="true" sz="7999" spc="239">
                <a:solidFill>
                  <a:srgbClr val="ED4656"/>
                </a:solidFill>
                <a:latin typeface="Roboto Bold"/>
                <a:ea typeface="Roboto Bold"/>
                <a:cs typeface="Roboto Bold"/>
                <a:sym typeface="Roboto Bold"/>
              </a:rPr>
              <a:t>1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768187" y="8443808"/>
            <a:ext cx="613370" cy="13684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1199"/>
              </a:lnSpc>
              <a:spcBef>
                <a:spcPct val="0"/>
              </a:spcBef>
            </a:pPr>
            <a:r>
              <a:rPr lang="en-US" b="true" sz="7999" spc="239" strike="noStrike" u="none">
                <a:solidFill>
                  <a:srgbClr val="ED4656"/>
                </a:solidFill>
                <a:latin typeface="Roboto Bold"/>
                <a:ea typeface="Roboto Bold"/>
                <a:cs typeface="Roboto Bold"/>
                <a:sym typeface="Roboto Bold"/>
              </a:rPr>
              <a:t>2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1280175">
            <a:off x="926598" y="-3120397"/>
            <a:ext cx="16660920" cy="15350986"/>
          </a:xfrm>
          <a:custGeom>
            <a:avLst/>
            <a:gdLst/>
            <a:ahLst/>
            <a:cxnLst/>
            <a:rect r="r" b="b" t="t" l="l"/>
            <a:pathLst>
              <a:path h="15350986" w="16660920">
                <a:moveTo>
                  <a:pt x="0" y="0"/>
                </a:moveTo>
                <a:lnTo>
                  <a:pt x="16660920" y="0"/>
                </a:lnTo>
                <a:lnTo>
                  <a:pt x="16660920" y="15350986"/>
                </a:lnTo>
                <a:lnTo>
                  <a:pt x="0" y="1535098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9999"/>
            </a:blip>
            <a:stretch>
              <a:fillRect l="0" t="-739" r="0" b="-739"/>
            </a:stretch>
          </a:blipFill>
        </p:spPr>
      </p:sp>
    </p:spTree>
  </p:cSld>
  <p:clrMapOvr>
    <a:masterClrMapping/>
  </p:clrMapOvr>
  <p:transition spd="slow">
    <p:push dir="d"/>
  </p:transition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582172"/>
            <a:ext cx="18288000" cy="8676128"/>
          </a:xfrm>
          <a:custGeom>
            <a:avLst/>
            <a:gdLst/>
            <a:ahLst/>
            <a:cxnLst/>
            <a:rect r="r" b="b" t="t" l="l"/>
            <a:pathLst>
              <a:path h="8676128" w="18288000">
                <a:moveTo>
                  <a:pt x="0" y="0"/>
                </a:moveTo>
                <a:lnTo>
                  <a:pt x="18288000" y="0"/>
                </a:lnTo>
                <a:lnTo>
                  <a:pt x="18288000" y="8676128"/>
                </a:lnTo>
                <a:lnTo>
                  <a:pt x="0" y="867612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724" t="-2654" r="-707" b="-18096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1280175">
            <a:off x="934917" y="-3164558"/>
            <a:ext cx="16418167" cy="15350986"/>
          </a:xfrm>
          <a:custGeom>
            <a:avLst/>
            <a:gdLst/>
            <a:ahLst/>
            <a:cxnLst/>
            <a:rect r="r" b="b" t="t" l="l"/>
            <a:pathLst>
              <a:path h="15350986" w="16418167">
                <a:moveTo>
                  <a:pt x="0" y="0"/>
                </a:moveTo>
                <a:lnTo>
                  <a:pt x="16418166" y="0"/>
                </a:lnTo>
                <a:lnTo>
                  <a:pt x="16418166" y="15350985"/>
                </a:lnTo>
                <a:lnTo>
                  <a:pt x="0" y="1535098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9999"/>
            </a:blip>
            <a:stretch>
              <a:fillRect l="0" t="0" r="0" b="0"/>
            </a:stretch>
          </a:blipFill>
        </p:spPr>
      </p:sp>
    </p:spTree>
  </p:cSld>
  <p:clrMapOvr>
    <a:masterClrMapping/>
  </p:clrMapOvr>
  <p:transition spd="fast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DAHY6GDfgdE</dc:identifier>
  <dcterms:modified xsi:type="dcterms:W3CDTF">2011-08-01T06:04:30Z</dcterms:modified>
  <cp:revision>1</cp:revision>
  <dc:title>SplitFlow</dc:title>
</cp:coreProperties>
</file>